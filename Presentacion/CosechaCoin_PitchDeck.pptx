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A5C38">
              <a:alpha val="30000"/>
            </a:srgbClr>
          </a:solidFill>
          <a:ln w="12700">
            <a:solidFill>
              <a:srgbClr val="1A5C3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C9A84C">
              <a:alpha val="2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pic>
        <p:nvPicPr>
          <p:cNvPr id="4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</a:rPr>
              <a:t>TOKENIZACIÓN AGRÍCOLA · BLOCKCHAIN · INTELIGENCIA ARTIFICIAL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Financiamiento agrícola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descentralizado para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Latinoamérica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663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5A0"/>
                </a:solidFill>
              </a:rPr>
              <a:t>Conectamos farmers con inversores globales.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5A0"/>
                </a:solidFill>
              </a:rPr>
              <a:t>Sin bancos. Sin burocracia. Con blockchain.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</a:rPr>
              <a:t>Ariel Molbert · Fundador Oriceti · 2025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132320" y="448056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4480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Built on Stellar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E1E"/>
                </a:solidFill>
              </a:rPr>
              <a:t>47,000 farmers sin acceso a capital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14800" cy="329184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5C38"/>
                </a:solidFill>
              </a:rPr>
              <a:t>☕  Don Carlos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</a:rPr>
              <a:t>Farmer en Tarrazú · 2 hectáreas de café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A3A"/>
                </a:solidFill>
              </a:rPr>
              <a:t>Necesita </a:t>
            </a:r>
            <a:pPr indent="0" marL="0">
              <a:buNone/>
            </a:pPr>
            <a:r>
              <a:rPr lang="en-US" sz="1200" b="1" dirty="0">
                <a:solidFill>
                  <a:srgbClr val="0F2E1E"/>
                </a:solidFill>
              </a:rPr>
              <a:t>$2,700</a:t>
            </a:r>
            <a:pPr indent="0" marL="0">
              <a:buNone/>
            </a:pPr>
            <a:r>
              <a:rPr lang="en-US" sz="1200" dirty="0">
                <a:solidFill>
                  <a:srgbClr val="3A5A3A"/>
                </a:solidFill>
              </a:rPr>
              <a:t> para fertilizantes,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3A"/>
                </a:solidFill>
              </a:rPr>
              <a:t>mano de obra y cosecha.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3A"/>
                </a:solidFill>
              </a:rPr>
              <a:t>Va al banco: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3A"/>
                </a:solidFill>
              </a:rPr>
              <a:t>• Piden garantía hipotecaria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3A"/>
                </a:solidFill>
              </a:rPr>
              <a:t>• 3 meses de trámites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A5A3A"/>
                </a:solidFill>
              </a:rPr>
              <a:t>• 22% de interés anual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3A"/>
                </a:solidFill>
              </a:rPr>
              <a:t>Para cuando aprueban,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la temporada ya pasó.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463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C38"/>
                </a:solidFill>
              </a:rPr>
              <a:t>47,000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A"/>
                </a:solidFill>
              </a:rPr>
              <a:t>Productores en Costa Rica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56032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D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606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5C38"/>
                </a:solidFill>
              </a:rPr>
              <a:t>22%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5A"/>
                </a:solidFill>
              </a:rPr>
              <a:t>Interés anual bancario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703320"/>
            <a:ext cx="3931920" cy="1005840"/>
          </a:xfrm>
          <a:prstGeom prst="rect">
            <a:avLst/>
          </a:prstGeom>
          <a:solidFill>
            <a:srgbClr val="0F2E1E"/>
          </a:solidFill>
          <a:ln w="12700">
            <a:solidFill>
              <a:srgbClr val="0F2E1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</a:rPr>
              <a:t>3 meses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2920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0A0"/>
                </a:solidFill>
              </a:rPr>
              <a:t>Espera promedio de crédito</a:t>
            </a:r>
            <a:endParaRPr lang="en-US" sz="1200" dirty="0"/>
          </a:p>
        </p:txBody>
      </p:sp>
      <p:pic>
        <p:nvPicPr>
          <p:cNvPr id="18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CosechaCoin conecta farmers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con inversores globales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</a:rPr>
              <a:t>Sin bancos. Sin burocracia. Con blockchain Stellar y USDC.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194560"/>
            <a:ext cx="2011680" cy="2651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Farmer registra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su cosecha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La IA predice rendimiento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con datos del ICAFE e IMNS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2834640"/>
            <a:ext cx="1828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2194560"/>
            <a:ext cx="2011680" cy="2651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9748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Inversor compra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tokens en USDC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Desde $27 por token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Desde cualquier país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2834640"/>
            <a:ext cx="1828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194560"/>
            <a:ext cx="2011680" cy="2651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9204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Satélite monitorea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la cosecha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Sentinel-2 reporta NDVI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cada 5 días on-chain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2834640"/>
            <a:ext cx="1828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2194560"/>
            <a:ext cx="2011680" cy="265176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84C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8660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contract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paga automático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Sin intermediarios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E0B8"/>
                </a:solidFill>
              </a:rPr>
              <a:t>Todo verificable en blockchain</a:t>
            </a:r>
            <a:endParaRPr lang="en-US" sz="1000" dirty="0"/>
          </a:p>
        </p:txBody>
      </p:sp>
      <p:pic>
        <p:nvPicPr>
          <p:cNvPr id="24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5C38"/>
                </a:solidFill>
              </a:rPr>
              <a:t>LOS NÚMEROS REALES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E1E"/>
                </a:solidFill>
              </a:rPr>
              <a:t>Café Tarrazú · 2 hectáreas · 1 ciclo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4114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FARMER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651760" cy="283464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47088"/>
            <a:ext cx="164592" cy="1645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Recibe $2,700 sin banco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64592" cy="1645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Sin garantía hipotecaria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07792"/>
            <a:ext cx="164592" cy="1645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Vende cosecha por $12,000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64592" cy="1645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419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Se queda $8,355 netos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68496"/>
            <a:ext cx="164592" cy="164592"/>
          </a:xfrm>
          <a:prstGeom prst="ellipse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Paga 35% sobre lo recibido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325880"/>
            <a:ext cx="2651760" cy="41148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INVERSOR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91840" y="1737360"/>
            <a:ext cx="2651760" cy="283464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847088"/>
            <a:ext cx="164592" cy="16459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Invierte desde $27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164592" cy="16459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Retorno del 35% en 6 meses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29000" y="2907792"/>
            <a:ext cx="164592" cy="16459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70% anualizado vs 4% banco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29000" y="3438144"/>
            <a:ext cx="164592" cy="16459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75888" y="3419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Monitoreo satelital en tiempo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968496"/>
            <a:ext cx="164592" cy="164592"/>
          </a:xfrm>
          <a:prstGeom prst="ellipse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Todo verificable en blockchain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1325880"/>
            <a:ext cx="2651760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325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COSECHACOIN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72200" y="1737360"/>
            <a:ext cx="2651760" cy="283464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1847088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1% de comisión automática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37744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$27 por cosecha de $2,700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2907792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56248" y="28895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100 cosechas = $2,700/mes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438144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34198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Sin intervención manual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968496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3950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E1E"/>
                </a:solidFill>
              </a:rPr>
              <a:t>Escala a toda Latinoamérica</a:t>
            </a:r>
            <a:endParaRPr lang="en-US" sz="1100" dirty="0"/>
          </a:p>
        </p:txBody>
      </p:sp>
      <p:pic>
        <p:nvPicPr>
          <p:cNvPr id="44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TECNOLOGÍA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Infraestructura real, no una promesa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Stellar Soroban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Smart contracts reales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Transacciones verificables on-chain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Fees de centavos, 5 seg/TX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USDC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Stablecoin dólar en Stellar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Sin volatilidad crypto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Pagos instantáneos globales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32588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6656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XGBoost + ICAFE/IMNS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Predicción de rendimiento agrícola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Datos reales de Costa Rica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Modelo entrenado, no genérico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0175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Sentinel-2 (ESA)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Monitoreo satelital gratuito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Índice NDVI cada 5 días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Reemplaza el dron físico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86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Flutter + Next.js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App móvil iOS y Android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Dashboard web responsive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Experiencia real sin terminales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17520"/>
            <a:ext cx="265176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665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PostgreSQL + Render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Base de datos persistente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Deploy automático de contratos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A8"/>
                </a:solidFill>
              </a:rPr>
              <a:t>Infraestructura en la nube</a:t>
            </a:r>
            <a:endParaRPr lang="en-US" sz="1000" dirty="0"/>
          </a:p>
        </p:txBody>
      </p:sp>
      <p:pic>
        <p:nvPicPr>
          <p:cNvPr id="28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6E"/>
          </a:solidFill>
          <a:ln w="12700">
            <a:solidFill>
              <a:srgbClr val="1A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A6E"/>
                </a:solidFill>
              </a:rPr>
              <a:t>MERCADO Y TRACCIÓN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E1E"/>
                </a:solidFill>
              </a:rPr>
              <a:t>Costa Rica primero. Latinoamérica después.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840480" cy="86868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</a:rPr>
              <a:t>47,000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</a:rPr>
              <a:t>Productores CR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</a:rPr>
              <a:t>$1.2B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</a:rPr>
              <a:t>Valor sector agrícola CR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3840480" cy="86868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5C38"/>
                </a:solidFill>
              </a:rPr>
              <a:t>10M+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5A"/>
                </a:solidFill>
              </a:rPr>
              <a:t>Mercado LATAM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4114800" cy="3566160"/>
          </a:xfrm>
          <a:prstGeom prst="rect">
            <a:avLst/>
          </a:prstGeom>
          <a:solidFill>
            <a:srgbClr val="0F2E1E"/>
          </a:solidFill>
          <a:ln w="12700">
            <a:solidFill>
              <a:srgbClr val="0F2E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</a:rPr>
              <a:t>TRACCIÓN HOY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874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✅  Contratos Soroban en Testnet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✅  7 TXs verificables on-chain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✅  Backend + IA + Mobile funcionando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✅  Deploy automático sin terminales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</a:rPr>
              <a:t>✅  AURA validado por MEP de Costa Rica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389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</a:rPr>
              <a:t>🔄  Conversaciones con MAG / Ministro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</a:rPr>
              <a:t>     Juan Gabriel Ramírez Guillén</a:t>
            </a:r>
            <a:endParaRPr lang="en-US" sz="1100" dirty="0"/>
          </a:p>
        </p:txBody>
      </p:sp>
      <p:pic>
        <p:nvPicPr>
          <p:cNvPr id="22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MODELO DE NEGOCIO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Simple, automático y escalable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3931920" cy="2286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F2E1E"/>
                </a:solidFill>
              </a:rPr>
              <a:t>1%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94360" y="2514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E1E"/>
                </a:solidFill>
              </a:rPr>
              <a:t>de comisión por cosecha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E1E"/>
                </a:solidFill>
              </a:rPr>
              <a:t>Cobrado automático por smart contract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2E1E"/>
                </a:solidFill>
              </a:rPr>
              <a:t>Sin intervención manual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411480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</a:rPr>
              <a:t>Proyección de ingresos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B8"/>
                </a:solidFill>
              </a:rPr>
              <a:t>10 cosechas activas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$270/mes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B8"/>
                </a:solidFill>
              </a:rPr>
              <a:t>50 cosechas activas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2313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$1,350/mes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7523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B8"/>
                </a:solidFill>
              </a:rPr>
              <a:t>100 cosechas activas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$2,700/mes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31912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E0B8"/>
                </a:solidFill>
              </a:rPr>
              <a:t>+ Boosters e impulsores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31912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Comisión adicional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8404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8A8"/>
                </a:solidFill>
              </a:rPr>
              <a:t>☕ Café (6m)  🍫 Cacao (4m)  🌽 Maíz (4m)  🫘 Frijol (4m)</a:t>
            </a:r>
            <a:endParaRPr lang="en-US" sz="1300" dirty="0"/>
          </a:p>
        </p:txBody>
      </p:sp>
      <p:pic>
        <p:nvPicPr>
          <p:cNvPr id="18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5C38"/>
                </a:solidFill>
              </a:rPr>
              <a:t>LO QUE PEDIMOS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E1E"/>
                </a:solidFill>
              </a:rPr>
              <a:t>Mínimo para pasar de Testnet a producción real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3931920" cy="3383280"/>
          </a:xfrm>
          <a:prstGeom prst="rect">
            <a:avLst/>
          </a:prstGeom>
          <a:solidFill>
            <a:srgbClr val="F4F7F4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8"/>
                </a:solidFill>
              </a:rPr>
              <a:t>💰 Inversión solicitada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3A"/>
                </a:solidFill>
              </a:rPr>
              <a:t>Dedicación completa al proyecto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$1,000/mes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3A"/>
                </a:solidFill>
              </a:rPr>
              <a:t>Infraestructura Mainnet + dominio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514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$100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3A"/>
                </a:solidFill>
              </a:rPr>
              <a:t>Visitas a farmers en Tarrazú/Brunca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$200/mes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703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3A"/>
                </a:solidFill>
              </a:rPr>
              <a:t>Duración piloto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5C38"/>
                </a:solidFill>
              </a:rPr>
              <a:t>2-3 meses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343400"/>
            <a:ext cx="3566160" cy="0"/>
          </a:xfrm>
          <a:prstGeom prst="line">
            <a:avLst/>
          </a:prstGeom>
          <a:noFill/>
          <a:ln w="12700">
            <a:solidFill>
              <a:srgbClr val="1A5C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E1E"/>
                </a:solidFill>
              </a:rPr>
              <a:t>Total estimado 3 meses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434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5C38"/>
                </a:solidFill>
              </a:rPr>
              <a:t>~$3,900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325880"/>
            <a:ext cx="4114800" cy="3383280"/>
          </a:xfrm>
          <a:prstGeom prst="rect">
            <a:avLst/>
          </a:prstGeom>
          <a:solidFill>
            <a:srgbClr val="0F2E1E"/>
          </a:solidFill>
          <a:ln w="12700">
            <a:solidFill>
              <a:srgbClr val="0F2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🏛️ El respaldo que más vale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9202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A8"/>
                </a:solidFill>
              </a:rPr>
              <a:t>El apoyo del Ministerio de Agricultura y Ganadería abre acceso directo a los 47,000 productores registrados — sin costo de adquisición.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Antecedente directo: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1546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8D8A8"/>
                </a:solidFill>
              </a:rPr>
              <a:t>Proyecto AURA — validado técnicamente por el Ministerio de Educación de Costa Rica y en prueba piloto de implementación.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977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9A84C"/>
                </a:solidFill>
              </a:rPr>
              <a:t>A partir del primer ciclo completo, el 1% de comisión cubre los costos operativos sin financiamiento externo adicional.</a:t>
            </a:r>
            <a:endParaRPr lang="en-US" sz="1000" dirty="0"/>
          </a:p>
        </p:txBody>
      </p:sp>
      <p:pic>
        <p:nvPicPr>
          <p:cNvPr id="24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46634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5C38">
              <a:alpha val="25000"/>
            </a:srgbClr>
          </a:solidFill>
          <a:ln w="12700">
            <a:solidFill>
              <a:srgbClr val="1A5C3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18000"/>
              </a:srgbClr>
            </a:solidFill>
            <a:prstDash val="solid"/>
          </a:ln>
        </p:spPr>
      </p:sp>
      <p:pic>
        <p:nvPicPr>
          <p:cNvPr id="4" name="Image 0" descr="/home/claude/logo_cosec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7432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CosechaCoin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8A8"/>
                </a:solidFill>
              </a:rPr>
              <a:t>El farmer accede a capital justo.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8A8"/>
                </a:solidFill>
              </a:rPr>
              <a:t>El inversor gana 35% en 6 meses.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A8D8A8"/>
                </a:solidFill>
              </a:rPr>
              <a:t>El blockchain garantiza todo.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Costa Rica primero. Latinoamérica después.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60"/>
                </a:solidFill>
              </a:rPr>
              <a:t>Ariel Molbert · Oriceti · ariel@oriceti.com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CosechaCoin — Pitch Deck</dc:title>
  <dc:subject>PptxGenJS Presentation</dc:subject>
  <dc:creator>Ariel Molbert</dc:creator>
  <cp:lastModifiedBy>Ariel Molbert</cp:lastModifiedBy>
  <cp:revision>1</cp:revision>
  <dcterms:created xsi:type="dcterms:W3CDTF">2026-06-04T16:35:37Z</dcterms:created>
  <dcterms:modified xsi:type="dcterms:W3CDTF">2026-06-04T16:35:37Z</dcterms:modified>
</cp:coreProperties>
</file>